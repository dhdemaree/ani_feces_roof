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C942-8D61-4AD6-0EEC-7567A9C1B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CF023-FFE8-3431-F0C7-9BFEAB34A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4CB74-743D-D339-4D41-BE840393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0DDB5-ACB3-75A5-AF2C-58AA19AF9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ABE3A-45AC-BB75-02F5-4E9A6C1E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96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A98A-069E-E45E-07C9-F98877A1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FBDF-4D3F-FCB8-6ABA-BCDF691E7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153D-FA1A-5DCF-2B93-5088A75D1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B9C10-BB98-BD9A-ADDA-BD39F35E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B6187-72B0-F057-97DF-1A6EBE74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A7D6-7E6D-7080-1744-0DC0D714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2AD7D-7931-45B2-DFF7-7E48B3B79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29F12-C59E-D79C-067A-52D9802F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806A-FF77-E703-6F63-F1017754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A2598-64C4-CE3C-B72D-6BC797A0A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2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F2C9-602A-90C0-554B-C52F43A2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4D53D-3F42-BF53-B12C-0529D991B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232F5-E865-3D32-7FA2-3CF1208C5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BDB7D-64F6-AA11-896C-6EC29BE9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36270-FA5E-DC6D-205E-D7D6BFBC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45487-DF38-BAA0-BBB8-633A14E7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8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D314-0BAC-8E65-9A04-CE721808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A36E9-4E17-1804-7351-6A1B5DDD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8CD11-15BE-2F60-C40B-164CA91E0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3FE0D-A84B-49EF-6454-9C8C60297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72A7D-9D3F-63F2-FAAA-DC9FDC455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AA280A-87F6-ACF6-4B75-52760AAF9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AD8D8-43E2-D8B4-9EB3-6EBCDC30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C1461-93F5-832A-57E8-04D405A4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4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722D-503D-FDAB-C896-857F1B20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AED07F-FFC0-2CDC-5CDB-AEE1519B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316B31-0263-6015-7F31-3287ACB8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2B5C4-28B9-DA83-34A1-46B3686F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93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BA65E-FA9B-8BB0-B15B-1B8DDA22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775FD9-7CB9-BD36-76A6-294806609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FECF1-8473-7439-3A48-B56DFBF7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E2AB-0FA6-43EA-019C-D2B22BF0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9D00D-4C23-C7CB-A161-3616C309E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E7B4C-8117-A60C-0C5F-6CF522C3F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10363-1667-E90B-81A3-44FDC8C4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D58E5-396F-907D-CC8A-CA682CA09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F4195-F4C2-5A4C-6BCE-3C773762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8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568B-91BC-E6CF-8A52-435EF9AC6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E6BF6-3FF2-76A7-DAE0-079E5F06B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EBA4C-FD57-572B-6465-E3FC5CE74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A29C6-527C-5FEC-6F9B-82D462B65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ABA3D-47AB-780D-4930-151C16077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2AFFD-74D9-35A1-2BBD-FE4323CE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089F-7F1A-D131-288D-789CC563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EB310-D728-000E-24FD-21313A680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CBB38-44F4-4801-99DE-38F03EE9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C6B5F-88BC-B6EC-6A6A-4F37E073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8579-737D-A520-7858-CCDF77F76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748205-BA8F-E4CE-E19F-686998D16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615CD-1732-8BAC-F554-8977C5570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DC420-9474-E094-FC90-0736A747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35281-F76B-0159-C499-37E13E35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1731A-A4D7-EA68-3100-FFB4A20D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2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C824D-D891-95A5-AD92-31C1F6FA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40B03-13DA-1947-0FFB-2B3113CFB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7350-E7CC-B3CE-D54F-0978F3165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89973-C4E1-455A-AD2A-AF43ED3A2AA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9AF20-4322-1058-EE86-073D82A3C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7765A-A2D5-A22D-5C25-22E8F3904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41FDD-598D-4FF3-9B41-E15DE30A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95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>
            <a:extLst>
              <a:ext uri="{FF2B5EF4-FFF2-40B4-BE49-F238E27FC236}">
                <a16:creationId xmlns:a16="http://schemas.microsoft.com/office/drawing/2014/main" id="{57384934-A8A2-5B8F-269D-06EEFACB6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650" y="884800"/>
            <a:ext cx="1887538" cy="12430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Records identified from*: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Web of Science (n = 1371)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Google Scholar (n = 989)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Total (n = 2360)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F47A4C16-8E75-D132-E69B-C6DC69686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7" y="884800"/>
            <a:ext cx="1887538" cy="12430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Records removed </a:t>
            </a:r>
            <a:r>
              <a:rPr lang="en-AU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before screening</a:t>
            </a: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Duplicate records removed  (n = 76)</a:t>
            </a:r>
            <a:endParaRPr lang="en-AU" altLang="en-US" sz="1200" dirty="0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3776B1E7-0D02-3A18-128B-482D88DD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650" y="2422133"/>
            <a:ext cx="1887538" cy="61055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sought for retrieval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2284)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008D3C47-3DC6-312B-60A4-4B4AA521B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862" y="2422133"/>
            <a:ext cx="1887538" cy="61055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not retrieved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265)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AC6DB992-B82D-B6FF-D2A1-FC8503ED4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7" y="3275335"/>
            <a:ext cx="1887539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Records screened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2019)</a:t>
            </a: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47D4EC41-61BA-915A-AD32-CE5F69EC5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862" y="3271525"/>
            <a:ext cx="1887538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 not in English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21)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2E22DBE5-B4E5-493A-8EB3-95B783619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7" y="4148699"/>
            <a:ext cx="1887539" cy="57292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assessed for eligibility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1998)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28B819CE-BFBB-C9B0-E0A2-5E4388F7E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370" y="4148699"/>
            <a:ext cx="1887538" cy="113299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excluded: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Studies did not have presence/enumerated data on fecal pathogens from animals that could access roofs (n = 1901)</a:t>
            </a:r>
            <a:endParaRPr lang="en-AU" altLang="en-US" sz="1200" dirty="0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FC8CC91D-2580-46B2-910A-1DBBA09C7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7" y="886387"/>
            <a:ext cx="1887538" cy="12430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Records identified from:</a:t>
            </a:r>
            <a:endParaRPr lang="en-US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Citation searching (n = 299)</a:t>
            </a:r>
            <a:endParaRPr lang="en-US" altLang="en-US" sz="1200" dirty="0"/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01D3B92E-5444-079B-8B77-8C6EFCC8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7" y="4150874"/>
            <a:ext cx="1887538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assessed for eligibility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198)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8570566F-32FE-B3DF-5B6A-ABDDB332C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563" y="4148699"/>
            <a:ext cx="1555750" cy="149942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excluded: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Studies did not have presence or enumerated data on fecal pathogens from animals that could access roof (n = 65)</a:t>
            </a:r>
            <a:endParaRPr lang="en-AU" altLang="en-US" sz="1200" dirty="0"/>
          </a:p>
        </p:txBody>
      </p:sp>
      <p:sp>
        <p:nvSpPr>
          <p:cNvPr id="47" name="Rectangle 13">
            <a:extLst>
              <a:ext uri="{FF2B5EF4-FFF2-40B4-BE49-F238E27FC236}">
                <a16:creationId xmlns:a16="http://schemas.microsoft.com/office/drawing/2014/main" id="{3E8FCB5A-E568-4856-1167-3CFCE7E1C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7961" y="5388168"/>
            <a:ext cx="2520505" cy="94826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 studies included in review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97, GS = 71 </a:t>
            </a:r>
            <a:r>
              <a:rPr lang="en-AU" alt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WoS</a:t>
            </a: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=26)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of new included studies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133)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(n=230)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FC0E082-D20F-9821-2261-CF6CE29533EE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3659189" y="1506306"/>
            <a:ext cx="5651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B426C4B-EDBA-9E26-A433-44F68C0E4D4A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3659188" y="2727410"/>
            <a:ext cx="5746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B055572-35D8-589F-532C-1CBB120BEAFB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 flipV="1">
            <a:off x="3660776" y="3562951"/>
            <a:ext cx="573087" cy="3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9334E83-4974-FC45-53A7-630F37062E05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3660775" y="4435163"/>
            <a:ext cx="5635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lowchart: Alternate Process 29">
            <a:extLst>
              <a:ext uri="{FF2B5EF4-FFF2-40B4-BE49-F238E27FC236}">
                <a16:creationId xmlns:a16="http://schemas.microsoft.com/office/drawing/2014/main" id="{E45C2EA8-908A-A455-AB4C-7BAB40F3F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2" y="519675"/>
            <a:ext cx="4344988" cy="263525"/>
          </a:xfrm>
          <a:prstGeom prst="flowChartAlternateProcess">
            <a:avLst/>
          </a:prstGeom>
          <a:solidFill>
            <a:srgbClr val="FFC000"/>
          </a:solidFill>
          <a:ln w="12700">
            <a:solidFill>
              <a:srgbClr val="7F5F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Identification of new studies via databases and registers</a:t>
            </a:r>
            <a:endParaRPr lang="en-AU" altLang="en-US" sz="1200">
              <a:latin typeface="Arial" panose="020B0604020202020204" pitchFamily="34" charset="0"/>
            </a:endParaRPr>
          </a:p>
        </p:txBody>
      </p:sp>
      <p:sp>
        <p:nvSpPr>
          <p:cNvPr id="53" name="Flowchart: Alternate Process 30">
            <a:extLst>
              <a:ext uri="{FF2B5EF4-FFF2-40B4-BE49-F238E27FC236}">
                <a16:creationId xmlns:a16="http://schemas.microsoft.com/office/drawing/2014/main" id="{28E45240-CF32-ECC4-9B6E-FF5D16C58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1262" y="514913"/>
            <a:ext cx="3746500" cy="263525"/>
          </a:xfrm>
          <a:prstGeom prst="flowChartAlternateProcess">
            <a:avLst/>
          </a:prstGeom>
          <a:solidFill>
            <a:srgbClr val="FFC000"/>
          </a:solidFill>
          <a:ln w="12700">
            <a:solidFill>
              <a:srgbClr val="7F5F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Identification of new studies via other methods</a:t>
            </a:r>
            <a:endParaRPr lang="en-AU" altLang="en-US" sz="1200">
              <a:latin typeface="Arial" panose="020B0604020202020204" pitchFamily="34" charset="0"/>
            </a:endParaRPr>
          </a:p>
        </p:txBody>
      </p:sp>
      <p:sp>
        <p:nvSpPr>
          <p:cNvPr id="54" name="Flowchart: Alternate Process 31">
            <a:extLst>
              <a:ext uri="{FF2B5EF4-FFF2-40B4-BE49-F238E27FC236}">
                <a16:creationId xmlns:a16="http://schemas.microsoft.com/office/drawing/2014/main" id="{5C078FA9-C05A-4CDE-413B-2AADE6E7A3A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885643" y="1374543"/>
            <a:ext cx="1284288" cy="263525"/>
          </a:xfrm>
          <a:prstGeom prst="flowChartAlternateProcess">
            <a:avLst/>
          </a:prstGeom>
          <a:solidFill>
            <a:srgbClr val="9CC2E5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Identification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55" name="Flowchart: Alternate Process 32">
            <a:extLst>
              <a:ext uri="{FF2B5EF4-FFF2-40B4-BE49-F238E27FC236}">
                <a16:creationId xmlns:a16="http://schemas.microsoft.com/office/drawing/2014/main" id="{BB487233-4C11-9FAD-4526-DD069B0E8A8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4807" y="3650579"/>
            <a:ext cx="2998707" cy="263526"/>
          </a:xfrm>
          <a:prstGeom prst="flowChartAlternateProcess">
            <a:avLst/>
          </a:prstGeom>
          <a:solidFill>
            <a:srgbClr val="9CC2E5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Screening</a:t>
            </a:r>
            <a:endParaRPr lang="en-AU" altLang="en-US" sz="1200" dirty="0"/>
          </a:p>
        </p:txBody>
      </p:sp>
      <p:sp>
        <p:nvSpPr>
          <p:cNvPr id="56" name="Flowchart: Alternate Process 33">
            <a:extLst>
              <a:ext uri="{FF2B5EF4-FFF2-40B4-BE49-F238E27FC236}">
                <a16:creationId xmlns:a16="http://schemas.microsoft.com/office/drawing/2014/main" id="{DEF3B533-B673-F5D6-0A1C-F1A3FD6A973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053654" y="5730537"/>
            <a:ext cx="948266" cy="263526"/>
          </a:xfrm>
          <a:prstGeom prst="flowChartAlternateProcess">
            <a:avLst/>
          </a:prstGeom>
          <a:solidFill>
            <a:srgbClr val="9CC2E5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Included</a:t>
            </a:r>
            <a:endParaRPr lang="en-AU" altLang="en-US" sz="1200">
              <a:latin typeface="Arial" panose="020B0604020202020204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BD8AE17-F73A-BB0F-303F-0A381C7807CD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2715419" y="2127813"/>
            <a:ext cx="0" cy="294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08A7489-D201-5E3A-80C9-CBB4B13152C6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>
            <a:off x="2715420" y="3032688"/>
            <a:ext cx="1587" cy="242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267F60C-46A6-2F20-69B1-C009E0C81D62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2717006" y="3858188"/>
            <a:ext cx="0" cy="2905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96DDF2-09AE-A9CE-221E-66CDA31D28D3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2717006" y="4721627"/>
            <a:ext cx="0" cy="666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7EA43B8B-DAC4-91A1-242B-F3ECDD941AAC}"/>
              </a:ext>
            </a:extLst>
          </p:cNvPr>
          <p:cNvCxnSpPr>
            <a:cxnSpLocks/>
            <a:stCxn id="45" idx="2"/>
            <a:endCxn id="47" idx="3"/>
          </p:cNvCxnSpPr>
          <p:nvPr/>
        </p:nvCxnSpPr>
        <p:spPr>
          <a:xfrm rot="5400000">
            <a:off x="5216750" y="3815444"/>
            <a:ext cx="1128575" cy="29651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C6F1E25-5EDD-AB79-CA03-2F091A194E83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8207376" y="4442300"/>
            <a:ext cx="23018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8">
            <a:extLst>
              <a:ext uri="{FF2B5EF4-FFF2-40B4-BE49-F238E27FC236}">
                <a16:creationId xmlns:a16="http://schemas.microsoft.com/office/drawing/2014/main" id="{29245B85-4860-248F-AC6D-49EC18B31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7" y="3271525"/>
            <a:ext cx="1887538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sought for retrieval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299)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sp>
        <p:nvSpPr>
          <p:cNvPr id="64" name="Rectangle 21">
            <a:extLst>
              <a:ext uri="{FF2B5EF4-FFF2-40B4-BE49-F238E27FC236}">
                <a16:creationId xmlns:a16="http://schemas.microsoft.com/office/drawing/2014/main" id="{47F6A786-9FB3-76FA-1F11-6169DA33D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562" y="3271525"/>
            <a:ext cx="1555750" cy="58285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Reports not retrieved</a:t>
            </a:r>
            <a:endParaRPr lang="en-AU" altLang="en-US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 = 101)</a:t>
            </a:r>
            <a:endParaRPr lang="en-AU" altLang="en-US" sz="1200" dirty="0">
              <a:latin typeface="Arial" panose="020B06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99E86A8-D173-12BD-02CD-0BA3241E0EA7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8207376" y="3562951"/>
            <a:ext cx="2301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921AE8D-1C7C-F575-A6C7-A9105FD5E6DD}"/>
              </a:ext>
            </a:extLst>
          </p:cNvPr>
          <p:cNvCxnSpPr>
            <a:cxnSpLocks/>
            <a:stCxn id="44" idx="2"/>
            <a:endCxn id="63" idx="0"/>
          </p:cNvCxnSpPr>
          <p:nvPr/>
        </p:nvCxnSpPr>
        <p:spPr>
          <a:xfrm>
            <a:off x="7263606" y="2129400"/>
            <a:ext cx="0" cy="1142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D43206B-75AE-821C-9B57-9622A39D4723}"/>
              </a:ext>
            </a:extLst>
          </p:cNvPr>
          <p:cNvCxnSpPr>
            <a:cxnSpLocks/>
            <a:stCxn id="63" idx="2"/>
            <a:endCxn id="45" idx="0"/>
          </p:cNvCxnSpPr>
          <p:nvPr/>
        </p:nvCxnSpPr>
        <p:spPr>
          <a:xfrm>
            <a:off x="7263606" y="3854377"/>
            <a:ext cx="0" cy="296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902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218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Demaree, David</dc:creator>
  <cp:lastModifiedBy>Demaree, David</cp:lastModifiedBy>
  <cp:revision>1</cp:revision>
  <dcterms:created xsi:type="dcterms:W3CDTF">2026-02-26T14:26:55Z</dcterms:created>
  <dcterms:modified xsi:type="dcterms:W3CDTF">2026-02-26T14:47:17Z</dcterms:modified>
</cp:coreProperties>
</file>